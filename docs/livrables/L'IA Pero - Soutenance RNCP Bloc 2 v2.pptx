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7315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>
                <a:solidFill>
                  <a:srgbClr val="D4AF37"/>
                </a:solidFill>
              </a:defRPr>
            </a:pPr>
            <a:r>
              <a:t>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D4AF37"/>
                </a:solidFill>
              </a:defRPr>
            </a:pPr>
            <a:r>
              <a:t>L'IA PERO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A89968"/>
                </a:solidFill>
              </a:defRPr>
            </a:pPr>
            <a:r>
              <a:t>Agent Intelligent Semantique &amp; Generatif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5E6C8"/>
                </a:solidFill>
              </a:defRPr>
            </a:pPr>
            <a:r>
              <a:t>SOUTENANCE PROJET - BLOC 2</a:t>
            </a:r>
          </a:p>
          <a:p>
            <a:pPr algn="ctr">
              <a:defRPr sz="1600">
                <a:solidFill>
                  <a:srgbClr val="F5E6C8"/>
                </a:solidFill>
              </a:defRPr>
            </a:pPr>
            <a:r>
              <a:t>RNCP40875 - Expert en Ingenierie de 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</a:defRPr>
            </a:pPr>
            <a:r>
              <a:t>Adam BELOUCIF &amp; Amina MEDJDOUB</a:t>
            </a:r>
          </a:p>
          <a:p>
            <a:pPr algn="ctr">
              <a:defRPr sz="1400">
                <a:solidFill>
                  <a:srgbClr val="A89968"/>
                </a:solidFill>
              </a:defRPr>
            </a:pPr>
            <a:r>
              <a:t>Mastere Data Engineering et IA - EFREI Paris</a:t>
            </a:r>
          </a:p>
          <a:p>
            <a:pPr algn="ctr">
              <a:defRPr sz="1200">
                <a:solidFill>
                  <a:srgbClr val="A89968"/>
                </a:solidFill>
              </a:defRPr>
            </a:pPr>
            <a:r>
              <a:t>Tutrice: Sarah MALAEB |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CONTEXTE &amp; PROBLEMATIQUE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LA PROBLEMATIQUE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E6C8"/>
                </a:solidFill>
              </a:defRPr>
            </a:pPr>
            <a:r>
              <a:t>Les moteurs de recherche de recettes classiques (filtres par ingredient) sont:</a:t>
            </a:r>
          </a:p>
          <a:p>
            <a:pPr>
              <a:spcBef>
                <a:spcPts val="600"/>
              </a:spcBef>
              <a:defRPr sz="1300">
                <a:solidFill>
                  <a:srgbClr val="F5E6C8"/>
                </a:solidFill>
              </a:defRPr>
            </a:pPr>
            <a:r>
              <a:t>- Froids et limites</a:t>
            </a:r>
          </a:p>
          <a:p>
            <a:pPr>
              <a:spcBef>
                <a:spcPts val="600"/>
              </a:spcBef>
              <a:defRPr sz="1300">
                <a:solidFill>
                  <a:srgbClr val="F5E6C8"/>
                </a:solidFill>
              </a:defRPr>
            </a:pPr>
            <a:r>
              <a:t>- Ne capturent pas l'intention utilisateur</a:t>
            </a:r>
          </a:p>
          <a:p>
            <a:pPr>
              <a:spcBef>
                <a:spcPts val="600"/>
              </a:spcBef>
              <a:defRPr sz="1300">
                <a:solidFill>
                  <a:srgbClr val="F5E6C8"/>
                </a:solidFill>
              </a:defRPr>
            </a:pPr>
            <a:r>
              <a:t>- Ignorent le contexte emotionnel</a:t>
            </a:r>
          </a:p>
          <a:p>
            <a:pPr>
              <a:spcBef>
                <a:spcPts val="600"/>
              </a:spcBef>
              <a:defRPr sz="1300">
                <a:solidFill>
                  <a:srgbClr val="F5E6C8"/>
                </a:solidFill>
              </a:defRPr>
            </a:pPr>
            <a:r>
              <a:t>Ex: 'Je veux quelque chose de frais pour l'ete'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LA SOLUTION: L'IA PERO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E6C8"/>
                </a:solidFill>
              </a:defRPr>
            </a:pPr>
            <a:r>
              <a:t>Un Barman IA immersif combinant: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Recherche Semantique (SBERT)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Comprendre le contexte et l'intention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IA Generative (Gemini)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Creativite et personnalisation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Architecture RAG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Fiabilite et controle des reponses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Interface Speakeasy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Experience utilisateur immersive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VALIDATION COMPETENCE C4.1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Definition d'une strategie d'integration IA alignee avec les besoins utilisateurs et l'ecosysteme (Mode hybride Local/Cloud)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ANALYSE DU BESOIN UTILISATEUR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PERSONA 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• Amateurs de cocktails (25-45 ans)</a:t>
            </a:r>
          </a:p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• Bartenders en quete d'inspiration</a:t>
            </a:r>
          </a:p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• Organisateurs d'evenements</a:t>
            </a:r>
          </a:p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• Curieux de mixologie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SCENARIOS D'USAGE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Recherche libre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'Je veux un cocktail fruite et frais'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Filtrage structure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Budget, Niveau, Temps de preparation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Decouverte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Bouton 'Surprends-moi!'</a:t>
            </a:r>
          </a:p>
          <a:p>
            <a:pPr>
              <a:spcBef>
                <a:spcPts val="800"/>
              </a:spcBef>
              <a:defRPr sz="1300" b="1">
                <a:solidFill>
                  <a:srgbClr val="FFD700"/>
                </a:solidFill>
              </a:defRPr>
            </a:pPr>
            <a:r>
              <a:t>• Historique</a:t>
            </a:r>
          </a:p>
          <a:p>
            <a:pPr>
              <a:defRPr sz="1200">
                <a:solidFill>
                  <a:srgbClr val="F5E6C8"/>
                </a:solidFill>
              </a:defRPr>
            </a:pPr>
            <a:r>
              <a:t>  Revisiter les creations precedentes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QUESTIONNAIRE HYBRIDE (Exigence EF1.1) - IMPLEMENTE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Texte libre + Budget dropdown + 7 Sliders Likert (1-5): Douceur, Acidite, Amertume, Force, Fraicheur, Complexite, Exotisme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METHODOLOGIE &amp;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APPROCHE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Sprint 1: MVP Backend (Guardrail + Cache)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Sprint 2: Interface Speakeasy (UI/UX)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Sprint 3: Integration GenAI (Gemini)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Sprint 4: Optimisations + Tests E2E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OUTILS COLLABORATIFS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GitHub: Versioning, branches features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Claude Code: Assistant IA developpement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Streamlit Cloud: Deploiement &amp; tests</a:t>
            </a:r>
          </a:p>
          <a:p>
            <a:pPr>
              <a:spcBef>
                <a:spcPts val="1000"/>
              </a:spcBef>
              <a:defRPr sz="1300">
                <a:solidFill>
                  <a:srgbClr val="F5E6C8"/>
                </a:solidFill>
              </a:defRPr>
            </a:pPr>
            <a:r>
              <a:t>• Pytest + Playwright: Tests E2E automatises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STRUCTURE DU PROJET (~3,300 lignes 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E6C8"/>
                </a:solidFill>
              </a:defRPr>
            </a:pPr>
            <a:r>
              <a:t>ia-pero/ -&gt; src/ (app.py, backend.py, scoring.py) | data/ (CSV, JSON) | tests/ (19 tests Pytest) | scripts/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REFERENTIEL DE DONNEES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DATASET PROPRIETAIRE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E6C8"/>
                </a:solidFill>
              </a:defRPr>
            </a:pPr>
            <a:r>
              <a:t>600 cocktails generes (src/generate_data.py)</a:t>
            </a:r>
          </a:p>
          <a:p>
            <a:pPr>
              <a:spcBef>
                <a:spcPts val="800"/>
              </a:spcBef>
              <a:defRPr sz="1400">
                <a:solidFill>
                  <a:srgbClr val="F5E6C8"/>
                </a:solidFill>
              </a:defRPr>
            </a:pPr>
            <a:r>
              <a:t>+ 1000 cocktails Kaggle enrichis</a:t>
            </a:r>
          </a:p>
          <a:p>
            <a:pPr>
              <a:spcBef>
                <a:spcPts val="1200"/>
              </a:spcBef>
              <a:defRPr sz="1600" b="1">
                <a:solidFill>
                  <a:srgbClr val="FFD700"/>
                </a:solidFill>
              </a:defRPr>
            </a:pPr>
            <a:r>
              <a:t>= 1600+ cocktails disponibles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STRUCTURE DU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name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Nom du cocktail</a:t>
            </a:r>
          </a:p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description_semantique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Texte riche pour embeddings SBERT</a:t>
            </a:r>
          </a:p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ingredients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Liste des ingredients</a:t>
            </a:r>
          </a:p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taste_profile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JSON 7 dimensions (radar chart)</a:t>
            </a:r>
          </a:p>
          <a:p>
            <a:pPr>
              <a:spcBef>
                <a:spcPts val="600"/>
              </a:spcBef>
              <a:defRPr sz="1200" b="1">
                <a:solidFill>
                  <a:srgbClr val="FFD700"/>
                </a:solidFill>
              </a:defRPr>
            </a:pPr>
            <a:r>
              <a:t>• source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  'generated' ou 'kaggle'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VALIDATION COMPETENCE C3.1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Preparer, nettoyer et structurer les donnees pour assurer une qualite optimale pour l'IA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PIPELINE IA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1.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Questionnaire hybride</a:t>
            </a:r>
            <a:br/>
            <a:r>
              <a:t>(texte + budget)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0472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2. GUARDRAIL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Check SBERT</a:t>
            </a:r>
            <a:br/>
            <a:r>
              <a:t>similarite &gt; 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3.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MD5 Hash</a:t>
            </a:r>
            <a:br/>
            <a:r>
              <a:t>Lookup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22776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4.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SBERT encode</a:t>
            </a:r>
            <a:br/>
            <a:r>
              <a:t>384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5.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Similarite Cosinus</a:t>
            </a:r>
            <a:br/>
            <a:r>
              <a:t>Top-N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6. RAG/GENAI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Gemini API</a:t>
            </a:r>
            <a:br/>
            <a:r>
              <a:t>(si pas en cache)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645919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F37"/>
                </a:solidFill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71232" y="1280160"/>
            <a:ext cx="1143000" cy="10058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2" y="13258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4AF37"/>
                </a:solidFill>
              </a:defRPr>
            </a:pPr>
            <a:r>
              <a:t>7.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2" y="16002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5E6C8"/>
                </a:solidFill>
              </a:defRPr>
            </a:pPr>
            <a:r>
              <a:t>Recipe + Radar</a:t>
            </a:r>
            <a:br/>
            <a:r>
              <a:t>+ Export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5603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SBERT LOCAL (all-MiniLM-L6-v2)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Cout: 0 EUR (modele local)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Latence: ~50ms vs 500ms API Cloud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Confidentialite: Donnees on-premise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Embeddings: 384 dimensions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560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GOOGLE GEMINI (RAG)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260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Modele: gemini-2.5-flash-lite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Fallback: 5 modeles en cascade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Persona: 'Barman annees 1920'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Output: JSON structure valide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IMPLEMENTATION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Python 3.11: Langage principal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Streamlit: Interface web reactive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Sentence-Transformers: Embeddings SBERT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Google GenAI: API Gemini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Plotly: Graphiques interactifs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Pandas/NumPy: Manipulation 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SCORING RNCP (EF3.1)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Coverage Score = SWi*Si / SWi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Similarite Cosinus par bloc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7 dimensions gustatives ponderees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Preferences Likert (1-5) integrees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Affichage score % + barres progression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GOUVERNANCE &amp; RESPONSABILISATION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5E6C8"/>
                </a:solidFill>
              </a:defRPr>
            </a:pPr>
            <a:r>
              <a:t>• Guardrail semantique anti-injection | Cache JSON pour audit | Fallback local si API down | Analytics loguees | Mention legale alcool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DATAVIZ &amp; EXPERIENCE UTILISATEUR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GRAPHIQUE RADAR (7 AXES)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Douceur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Acidite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Amertume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Force alcool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Fraicheur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Prix (1.5 - 5.0)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Qualite (1.5 - 5.0)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INTERFACE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Theme Speakeasy annees 1920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7 Sliders Likert pour profil gustatif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Coverage Score RNCP avec barres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Plan de Decouverte personnalise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Bio du profil gustatif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Enrichissement auto requetes courtes</a:t>
            </a:r>
          </a:p>
          <a:p>
            <a:pPr>
              <a:spcBef>
                <a:spcPts val="400"/>
              </a:spcBef>
              <a:defRPr sz="1200">
                <a:solidFill>
                  <a:srgbClr val="F5E6C8"/>
                </a:solidFill>
              </a:defRPr>
            </a:pPr>
            <a:r>
              <a:t>• Export recette + 'Surprends-moi!'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VALIDATION COMPETENCE C3.2</a:t>
            </a:r>
          </a:p>
          <a:p>
            <a:pPr>
              <a:defRPr sz="1100">
                <a:solidFill>
                  <a:srgbClr val="F5E6C8"/>
                </a:solidFill>
              </a:defRPr>
            </a:pPr>
            <a:r>
              <a:t>Elaborer une communication infographique visuelle via des tableaux de bord interactifs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RESULTATS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5E6C8"/>
                </a:solidFill>
              </a:defRPr>
            </a:pPr>
            <a:r>
              <a:t>Taux de rejet correct</a:t>
            </a:r>
            <a:br/>
            <a:r>
              <a:t>(Guardrail SBERT)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~50ms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5E6C8"/>
                </a:solidFill>
              </a:defRPr>
            </a:pPr>
            <a:r>
              <a:t>Temps reponse</a:t>
            </a:r>
            <a:br/>
            <a:r>
              <a:t>(avec cache)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40-60x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5E6C8"/>
                </a:solidFill>
              </a:defRPr>
            </a:pPr>
            <a:r>
              <a:t>Speedup recherche</a:t>
            </a:r>
            <a:br/>
            <a:r>
              <a:t>(embeddings caches)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1887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5E6C8"/>
                </a:solidFill>
              </a:defRPr>
            </a:pPr>
            <a:r>
              <a:t>Validite JSON</a:t>
            </a:r>
            <a:br/>
            <a:r>
              <a:t>(prompt strict)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TESTS AUTOMATISES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19 tests automatises (Pytest)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Playwright E2E: Flow complet (3)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Scoring module: 16 tests unitaires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Integration Kaggle: 5/5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t>GREEN AI &amp;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MiniLM local (80 Mo) vs LLM geant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Cache JSON: 0 appel API redondant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Empreinte memoire: ~180 Mo</a:t>
            </a:r>
          </a:p>
          <a:p>
            <a:pPr>
              <a:spcBef>
                <a:spcPts val="600"/>
              </a:spcBef>
              <a:defRPr sz="1200">
                <a:solidFill>
                  <a:srgbClr val="F5E6C8"/>
                </a:solidFill>
              </a:defRPr>
            </a:pPr>
            <a:r>
              <a:t>• CPU standard (pas de GPU requis)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LIMITES &amp; PISTES D'AMELIORATION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LIMITES IDENTIFIEES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SBERT anglais: Performances reduites en francais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Dataset limite: 1600 cocktails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Dependance API Gemini: Quota 15 req/min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Variabilite des similarites selon formulation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Pas de persistance profil (session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F37"/>
                </a:solidFill>
              </a:defRPr>
            </a:pPr>
            <a:r>
              <a:t>AMELIORATIONS FUTURES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Fine-tuning SBERT sur corpus cocktails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Base de donnees vectorielle (Pinecone/Chroma)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Chatbot conversationnel guide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Profils utilisateurs persistants</a:t>
            </a:r>
          </a:p>
          <a:p>
            <a:pPr>
              <a:spcBef>
                <a:spcPts val="800"/>
              </a:spcBef>
              <a:defRPr sz="1200">
                <a:solidFill>
                  <a:srgbClr val="F5E6C8"/>
                </a:solidFill>
              </a:defRPr>
            </a:pPr>
            <a:r>
              <a:t>• API REST pour integration externe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89968"/>
                </a:solidFill>
              </a:defRPr>
            </a:pPr>
            <a:r>
              <a:t>Projet validant l'ensemble du Bloc 2 RNCP40875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20116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DATA ENG.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5E6C8"/>
                </a:solidFill>
              </a:defRPr>
            </a:pPr>
            <a:r>
              <a:t>Pipeline de donnees</a:t>
            </a:r>
            <a:br/>
            <a:r>
              <a:t>CSV, Nettoyage</a:t>
            </a:r>
            <a:br/>
            <a:r>
              <a:t>600+ cocktails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011680"/>
            <a:ext cx="20116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5E6C8"/>
                </a:solidFill>
              </a:defRPr>
            </a:pPr>
            <a:r>
              <a:t>NLP Semantique</a:t>
            </a:r>
            <a:br/>
            <a:r>
              <a:t>Embeddings SBERT</a:t>
            </a:r>
            <a:br/>
            <a:r>
              <a:t>Similarite cosinus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11680"/>
            <a:ext cx="20116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GENAI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5E6C8"/>
                </a:solidFill>
              </a:defRPr>
            </a:pPr>
            <a:r>
              <a:t>Integration LLM</a:t>
            </a:r>
            <a:br/>
            <a:r>
              <a:t>Architecture RAG</a:t>
            </a:r>
            <a:br/>
            <a:r>
              <a:t>Prompt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011680"/>
            <a:ext cx="20116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1031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INDUSTRIALISATION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5E6C8"/>
                </a:solidFill>
              </a:defRPr>
            </a:pPr>
            <a:r>
              <a:t>UI Streamlit</a:t>
            </a:r>
            <a:br/>
            <a:r>
              <a:t>Tests E2E</a:t>
            </a:r>
            <a:br/>
            <a:r>
              <a:t>Cache &amp;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FD700"/>
                </a:solidFill>
              </a:defRPr>
            </a:pPr>
            <a:r>
              <a:t>Place a la demonstration!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891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D4AF37"/>
                </a:solidFill>
              </a:defRPr>
            </a:pPr>
            <a:r>
              <a:t>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DEMONSTRATION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1. PROFIL LIKERT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Ajuster les 7 sliders de preferences</a:t>
            </a:r>
            <a:br/>
            <a:r>
              <a:t>-&gt; Enrichissement auto des requetes courtes (EF4.1)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2. COVERAGE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945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Requete: 'mojito' -&gt; Score RNCP %</a:t>
            </a:r>
            <a:br/>
            <a:r>
              <a:t>-&gt; Formule SWi*Si/SWi + barres progression (EF3.1)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3. PLAN DECOUVERTE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Generation cocktail</a:t>
            </a:r>
            <a:br/>
            <a:r>
              <a:t>-&gt; Plan de progression + Bio profil (EF4.2/EF4.3)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4. GENERATION GENAI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206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E6C8"/>
                </a:solidFill>
              </a:defRPr>
            </a:pPr>
            <a:r>
              <a:t>Requete: 'cocktail mysterieux'</a:t>
            </a:r>
            <a:br/>
            <a:r>
              <a:t>-&gt; Recipe + Radar + Scoring +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89968"/>
                </a:solidFill>
              </a:defRPr>
            </a:pPr>
            <a:r>
              <a:t>Commande: streamlit run src/app.py | URL: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
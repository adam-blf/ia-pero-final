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0" y="7315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>
                <a:solidFill>
                  <a:srgbClr val="D4AF37"/>
                </a:solidFill>
              </a:defRPr>
            </a:pPr>
            <a:r>
              <a:t>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D4AF37"/>
                </a:solidFill>
              </a:defRPr>
            </a:pPr>
            <a:r>
              <a:t>L'IA PERO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A89968"/>
                </a:solidFill>
              </a:defRPr>
            </a:pPr>
            <a:r>
              <a:t>Agent Intelligent Semantique &amp; Generatif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6576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5E6C8"/>
                </a:solidFill>
              </a:defRPr>
            </a:pPr>
            <a:r>
              <a:t>SOUTENANCE PROJET - BLOC 2</a:t>
            </a:r>
          </a:p>
          <a:p>
            <a:pPr algn="ctr">
              <a:defRPr sz="1600">
                <a:solidFill>
                  <a:srgbClr val="F5E6C8"/>
                </a:solidFill>
              </a:defRPr>
            </a:pPr>
            <a:r>
              <a:t>RNCP40875 - Expert en Ingenierie de Donnees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4AF37"/>
                </a:solidFill>
              </a:defRPr>
            </a:pPr>
            <a:r>
              <a:t>Adam BELOUCIF &amp; Amina MEDJDOUB</a:t>
            </a:r>
          </a:p>
          <a:p>
            <a:pPr algn="ctr">
              <a:defRPr sz="1400">
                <a:solidFill>
                  <a:srgbClr val="A89968"/>
                </a:solidFill>
              </a:defRPr>
            </a:pPr>
            <a:r>
              <a:t>Mastere Data Engineering et IA - EFREI Paris</a:t>
            </a:r>
          </a:p>
          <a:p>
            <a:pPr algn="ctr">
              <a:defRPr sz="1200">
                <a:solidFill>
                  <a:srgbClr val="A89968"/>
                </a:solidFill>
              </a:defRPr>
            </a:pPr>
            <a:r>
              <a:t>Tutrice: Sarah MALAEB |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CONTEXTE &amp; PROBLEMATIQUE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4AF37"/>
                </a:solidFill>
              </a:defRPr>
            </a:pPr>
            <a:r>
              <a:t>LA PROBLEMATIQUE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5E6C8"/>
                </a:solidFill>
              </a:defRPr>
            </a:pPr>
            <a:r>
              <a:t>Les moteurs de recherche de recettes classiques (filtres par ingredient) sont:</a:t>
            </a:r>
          </a:p>
          <a:p>
            <a:pPr>
              <a:spcBef>
                <a:spcPts val="600"/>
              </a:spcBef>
              <a:defRPr sz="1300">
                <a:solidFill>
                  <a:srgbClr val="F5E6C8"/>
                </a:solidFill>
              </a:defRPr>
            </a:pPr>
            <a:r>
              <a:t>- Froids et limites</a:t>
            </a:r>
          </a:p>
          <a:p>
            <a:pPr>
              <a:spcBef>
                <a:spcPts val="600"/>
              </a:spcBef>
              <a:defRPr sz="1300">
                <a:solidFill>
                  <a:srgbClr val="F5E6C8"/>
                </a:solidFill>
              </a:defRPr>
            </a:pPr>
            <a:r>
              <a:t>- Ne capturent pas l'intention utilisateur</a:t>
            </a:r>
          </a:p>
          <a:p>
            <a:pPr>
              <a:spcBef>
                <a:spcPts val="600"/>
              </a:spcBef>
              <a:defRPr sz="1300">
                <a:solidFill>
                  <a:srgbClr val="F5E6C8"/>
                </a:solidFill>
              </a:defRPr>
            </a:pPr>
            <a:r>
              <a:t>- Ignorent le contexte emotionnel</a:t>
            </a:r>
          </a:p>
          <a:p>
            <a:pPr>
              <a:spcBef>
                <a:spcPts val="600"/>
              </a:spcBef>
              <a:defRPr sz="1300">
                <a:solidFill>
                  <a:srgbClr val="F5E6C8"/>
                </a:solidFill>
              </a:defRPr>
            </a:pPr>
            <a:r>
              <a:t>Ex: 'Je veux quelque chose de frais pour l'ete'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1887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4AF37"/>
                </a:solidFill>
              </a:defRPr>
            </a:pPr>
            <a:r>
              <a:t>LA SOLUTION: L'IA PERO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5E6C8"/>
                </a:solidFill>
              </a:defRPr>
            </a:pPr>
            <a:r>
              <a:t>Un Barman IA immersif combinant:</a:t>
            </a:r>
          </a:p>
          <a:p>
            <a:pPr>
              <a:spcBef>
                <a:spcPts val="800"/>
              </a:spcBef>
              <a:defRPr sz="1300" b="1">
                <a:solidFill>
                  <a:srgbClr val="FFD700"/>
                </a:solidFill>
              </a:defRPr>
            </a:pPr>
            <a:r>
              <a:t>• Recherche Semantique (SBERT)</a:t>
            </a:r>
          </a:p>
          <a:p>
            <a:pPr>
              <a:defRPr sz="1200">
                <a:solidFill>
                  <a:srgbClr val="F5E6C8"/>
                </a:solidFill>
              </a:defRPr>
            </a:pPr>
            <a:r>
              <a:t>  Comprendre le contexte et l'intention</a:t>
            </a:r>
          </a:p>
          <a:p>
            <a:pPr>
              <a:spcBef>
                <a:spcPts val="800"/>
              </a:spcBef>
              <a:defRPr sz="1300" b="1">
                <a:solidFill>
                  <a:srgbClr val="FFD700"/>
                </a:solidFill>
              </a:defRPr>
            </a:pPr>
            <a:r>
              <a:t>• IA Generative (Gemini)</a:t>
            </a:r>
          </a:p>
          <a:p>
            <a:pPr>
              <a:defRPr sz="1200">
                <a:solidFill>
                  <a:srgbClr val="F5E6C8"/>
                </a:solidFill>
              </a:defRPr>
            </a:pPr>
            <a:r>
              <a:t>  Creativite et personnalisation</a:t>
            </a:r>
          </a:p>
          <a:p>
            <a:pPr>
              <a:spcBef>
                <a:spcPts val="800"/>
              </a:spcBef>
              <a:defRPr sz="1300" b="1">
                <a:solidFill>
                  <a:srgbClr val="FFD700"/>
                </a:solidFill>
              </a:defRPr>
            </a:pPr>
            <a:r>
              <a:t>• Architecture RAG</a:t>
            </a:r>
          </a:p>
          <a:p>
            <a:pPr>
              <a:defRPr sz="1200">
                <a:solidFill>
                  <a:srgbClr val="F5E6C8"/>
                </a:solidFill>
              </a:defRPr>
            </a:pPr>
            <a:r>
              <a:t>  Fiabilite et controle des reponses</a:t>
            </a:r>
          </a:p>
          <a:p>
            <a:pPr>
              <a:spcBef>
                <a:spcPts val="800"/>
              </a:spcBef>
              <a:defRPr sz="1300" b="1">
                <a:solidFill>
                  <a:srgbClr val="FFD700"/>
                </a:solidFill>
              </a:defRPr>
            </a:pPr>
            <a:r>
              <a:t>• Interface Speakeasy</a:t>
            </a:r>
          </a:p>
          <a:p>
            <a:pPr>
              <a:defRPr sz="1200">
                <a:solidFill>
                  <a:srgbClr val="F5E6C8"/>
                </a:solidFill>
              </a:defRPr>
            </a:pPr>
            <a:r>
              <a:t>  Experience utilisateur immersive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4AF37"/>
                </a:solidFill>
              </a:defRPr>
            </a:pPr>
            <a:r>
              <a:t>VALIDATION COMPETENCE C4.1</a:t>
            </a:r>
          </a:p>
          <a:p>
            <a:pPr>
              <a:defRPr sz="1100">
                <a:solidFill>
                  <a:srgbClr val="F5E6C8"/>
                </a:solidFill>
              </a:defRPr>
            </a:pPr>
            <a:r>
              <a:t>Definition d'une strategie d'integration IA alignee avec les besoins utilisateurs et l'ecosysteme (Mode hybride Local/Cloud)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ANALYSE DU BESOIN UTILISATEUR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4AF37"/>
                </a:solidFill>
              </a:defRPr>
            </a:pPr>
            <a:r>
              <a:t>PERSONA CIBLE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F5E6C8"/>
                </a:solidFill>
              </a:defRPr>
            </a:pPr>
            <a:r>
              <a:t>• Amateurs de cocktails (25-45 ans)</a:t>
            </a:r>
          </a:p>
          <a:p>
            <a:pPr>
              <a:spcBef>
                <a:spcPts val="800"/>
              </a:spcBef>
              <a:defRPr sz="1400">
                <a:solidFill>
                  <a:srgbClr val="F5E6C8"/>
                </a:solidFill>
              </a:defRPr>
            </a:pPr>
            <a:r>
              <a:t>• Bartenders en quete d'inspiration</a:t>
            </a:r>
          </a:p>
          <a:p>
            <a:pPr>
              <a:spcBef>
                <a:spcPts val="800"/>
              </a:spcBef>
              <a:defRPr sz="1400">
                <a:solidFill>
                  <a:srgbClr val="F5E6C8"/>
                </a:solidFill>
              </a:defRPr>
            </a:pPr>
            <a:r>
              <a:t>• Organisateurs d'evenements</a:t>
            </a:r>
          </a:p>
          <a:p>
            <a:pPr>
              <a:spcBef>
                <a:spcPts val="800"/>
              </a:spcBef>
              <a:defRPr sz="1400">
                <a:solidFill>
                  <a:srgbClr val="F5E6C8"/>
                </a:solidFill>
              </a:defRPr>
            </a:pPr>
            <a:r>
              <a:t>• Curieux de mixologie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0972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4AF37"/>
                </a:solidFill>
              </a:defRPr>
            </a:pPr>
            <a:r>
              <a:t>SCENARIOS D'USAGE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46304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 b="1">
                <a:solidFill>
                  <a:srgbClr val="FFD700"/>
                </a:solidFill>
              </a:defRPr>
            </a:pPr>
            <a:r>
              <a:t>• Recherche libre</a:t>
            </a:r>
          </a:p>
          <a:p>
            <a:pPr>
              <a:defRPr sz="1200">
                <a:solidFill>
                  <a:srgbClr val="F5E6C8"/>
                </a:solidFill>
              </a:defRPr>
            </a:pPr>
            <a:r>
              <a:t>  'Je veux un cocktail fruite et frais'</a:t>
            </a:r>
          </a:p>
          <a:p>
            <a:pPr>
              <a:spcBef>
                <a:spcPts val="800"/>
              </a:spcBef>
              <a:defRPr sz="1300" b="1">
                <a:solidFill>
                  <a:srgbClr val="FFD700"/>
                </a:solidFill>
              </a:defRPr>
            </a:pPr>
            <a:r>
              <a:t>• Filtrage structure</a:t>
            </a:r>
          </a:p>
          <a:p>
            <a:pPr>
              <a:defRPr sz="1200">
                <a:solidFill>
                  <a:srgbClr val="F5E6C8"/>
                </a:solidFill>
              </a:defRPr>
            </a:pPr>
            <a:r>
              <a:t>  Budget, Niveau, Temps de preparation</a:t>
            </a:r>
          </a:p>
          <a:p>
            <a:pPr>
              <a:spcBef>
                <a:spcPts val="800"/>
              </a:spcBef>
              <a:defRPr sz="1300" b="1">
                <a:solidFill>
                  <a:srgbClr val="FFD700"/>
                </a:solidFill>
              </a:defRPr>
            </a:pPr>
            <a:r>
              <a:t>• Decouverte</a:t>
            </a:r>
          </a:p>
          <a:p>
            <a:pPr>
              <a:defRPr sz="1200">
                <a:solidFill>
                  <a:srgbClr val="F5E6C8"/>
                </a:solidFill>
              </a:defRPr>
            </a:pPr>
            <a:r>
              <a:t>  Bouton 'Surprends-moi!'</a:t>
            </a:r>
          </a:p>
          <a:p>
            <a:pPr>
              <a:spcBef>
                <a:spcPts val="800"/>
              </a:spcBef>
              <a:defRPr sz="1300" b="1">
                <a:solidFill>
                  <a:srgbClr val="FFD700"/>
                </a:solidFill>
              </a:defRPr>
            </a:pPr>
            <a:r>
              <a:t>• Historique</a:t>
            </a:r>
          </a:p>
          <a:p>
            <a:pPr>
              <a:defRPr sz="1200">
                <a:solidFill>
                  <a:srgbClr val="F5E6C8"/>
                </a:solidFill>
              </a:defRPr>
            </a:pPr>
            <a:r>
              <a:t>  Revisiter les creations precedentes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4AF37"/>
                </a:solidFill>
              </a:defRPr>
            </a:pPr>
            <a:r>
              <a:t>QUESTIONNAIRE HYBRIDE (Exigence EF1.1)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E6C8"/>
                </a:solidFill>
              </a:defRPr>
            </a:pPr>
            <a:r>
              <a:t>Texte libre: 'Un cocktail mysterieux et envoutant' + Dropdown Budget: Economique/Modere/Premium/Luxe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METHODOLOGIE &amp; ORGANISATION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4AF37"/>
                </a:solidFill>
              </a:defRPr>
            </a:pPr>
            <a:r>
              <a:t>APPROCHE AGILE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300">
                <a:solidFill>
                  <a:srgbClr val="F5E6C8"/>
                </a:solidFill>
              </a:defRPr>
            </a:pPr>
            <a:r>
              <a:t>• Sprint 1: MVP Backend (Guardrail + Cache)</a:t>
            </a:r>
          </a:p>
          <a:p>
            <a:pPr>
              <a:spcBef>
                <a:spcPts val="1000"/>
              </a:spcBef>
              <a:defRPr sz="1300">
                <a:solidFill>
                  <a:srgbClr val="F5E6C8"/>
                </a:solidFill>
              </a:defRPr>
            </a:pPr>
            <a:r>
              <a:t>• Sprint 2: Interface Speakeasy (UI/UX)</a:t>
            </a:r>
          </a:p>
          <a:p>
            <a:pPr>
              <a:spcBef>
                <a:spcPts val="1000"/>
              </a:spcBef>
              <a:defRPr sz="1300">
                <a:solidFill>
                  <a:srgbClr val="F5E6C8"/>
                </a:solidFill>
              </a:defRPr>
            </a:pPr>
            <a:r>
              <a:t>• Sprint 3: Integration GenAI (Gemini)</a:t>
            </a:r>
          </a:p>
          <a:p>
            <a:pPr>
              <a:spcBef>
                <a:spcPts val="1000"/>
              </a:spcBef>
              <a:defRPr sz="1300">
                <a:solidFill>
                  <a:srgbClr val="F5E6C8"/>
                </a:solidFill>
              </a:defRPr>
            </a:pPr>
            <a:r>
              <a:t>• Sprint 4: Optimisations + Tests E2E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0972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4AF37"/>
                </a:solidFill>
              </a:defRPr>
            </a:pPr>
            <a:r>
              <a:t>OUTILS COLLABORATIFS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46304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300">
                <a:solidFill>
                  <a:srgbClr val="F5E6C8"/>
                </a:solidFill>
              </a:defRPr>
            </a:pPr>
            <a:r>
              <a:t>• GitHub: Versioning, branches features</a:t>
            </a:r>
          </a:p>
          <a:p>
            <a:pPr>
              <a:spcBef>
                <a:spcPts val="1000"/>
              </a:spcBef>
              <a:defRPr sz="1300">
                <a:solidFill>
                  <a:srgbClr val="F5E6C8"/>
                </a:solidFill>
              </a:defRPr>
            </a:pPr>
            <a:r>
              <a:t>• Claude Code: Assistant IA developpement</a:t>
            </a:r>
          </a:p>
          <a:p>
            <a:pPr>
              <a:spcBef>
                <a:spcPts val="1000"/>
              </a:spcBef>
              <a:defRPr sz="1300">
                <a:solidFill>
                  <a:srgbClr val="F5E6C8"/>
                </a:solidFill>
              </a:defRPr>
            </a:pPr>
            <a:r>
              <a:t>• Streamlit Cloud: Deploiement &amp; tests</a:t>
            </a:r>
          </a:p>
          <a:p>
            <a:pPr>
              <a:spcBef>
                <a:spcPts val="1000"/>
              </a:spcBef>
              <a:defRPr sz="1300">
                <a:solidFill>
                  <a:srgbClr val="F5E6C8"/>
                </a:solidFill>
              </a:defRPr>
            </a:pPr>
            <a:r>
              <a:t>• Pytest + Playwright: Tests E2E automatises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4AF37"/>
                </a:solidFill>
              </a:defRPr>
            </a:pPr>
            <a:r>
              <a:t>STRUCTURE DU PROJET (~3,300 lignes Python)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5E6C8"/>
                </a:solidFill>
              </a:defRPr>
            </a:pPr>
            <a:r>
              <a:t>ia-pero/ -&gt; src/ (Backend, Frontend, Utils) | data/ (CSV, JSON Logs) | tests/ (Playwright E2E) | scripts/ (Kaggle)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REFERENTIEL DE DONNEES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4AF37"/>
                </a:solidFill>
              </a:defRPr>
            </a:pPr>
            <a:r>
              <a:t>DATASET PROPRIETAIRE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5E6C8"/>
                </a:solidFill>
              </a:defRPr>
            </a:pPr>
            <a:r>
              <a:t>600 cocktails generes (src/generate_data.py)</a:t>
            </a:r>
          </a:p>
          <a:p>
            <a:pPr>
              <a:spcBef>
                <a:spcPts val="800"/>
              </a:spcBef>
              <a:defRPr sz="1400">
                <a:solidFill>
                  <a:srgbClr val="F5E6C8"/>
                </a:solidFill>
              </a:defRPr>
            </a:pPr>
            <a:r>
              <a:t>+ 1000 cocktails Kaggle enrichis</a:t>
            </a:r>
          </a:p>
          <a:p>
            <a:pPr>
              <a:spcBef>
                <a:spcPts val="1200"/>
              </a:spcBef>
              <a:defRPr sz="1600" b="1">
                <a:solidFill>
                  <a:srgbClr val="FFD700"/>
                </a:solidFill>
              </a:defRPr>
            </a:pPr>
            <a:r>
              <a:t>= 1600+ cocktails disponibles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0972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4AF37"/>
                </a:solidFill>
              </a:defRPr>
            </a:pPr>
            <a:r>
              <a:t>STRUCTURE DU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46304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200" b="1">
                <a:solidFill>
                  <a:srgbClr val="FFD700"/>
                </a:solidFill>
              </a:defRPr>
            </a:pPr>
            <a:r>
              <a:t>• name</a:t>
            </a:r>
          </a:p>
          <a:p>
            <a:pPr>
              <a:defRPr sz="1100">
                <a:solidFill>
                  <a:srgbClr val="F5E6C8"/>
                </a:solidFill>
              </a:defRPr>
            </a:pPr>
            <a:r>
              <a:t>  Nom du cocktail</a:t>
            </a:r>
          </a:p>
          <a:p>
            <a:pPr>
              <a:spcBef>
                <a:spcPts val="600"/>
              </a:spcBef>
              <a:defRPr sz="1200" b="1">
                <a:solidFill>
                  <a:srgbClr val="FFD700"/>
                </a:solidFill>
              </a:defRPr>
            </a:pPr>
            <a:r>
              <a:t>• description_semantique</a:t>
            </a:r>
          </a:p>
          <a:p>
            <a:pPr>
              <a:defRPr sz="1100">
                <a:solidFill>
                  <a:srgbClr val="F5E6C8"/>
                </a:solidFill>
              </a:defRPr>
            </a:pPr>
            <a:r>
              <a:t>  Texte riche pour embeddings SBERT</a:t>
            </a:r>
          </a:p>
          <a:p>
            <a:pPr>
              <a:spcBef>
                <a:spcPts val="600"/>
              </a:spcBef>
              <a:defRPr sz="1200" b="1">
                <a:solidFill>
                  <a:srgbClr val="FFD700"/>
                </a:solidFill>
              </a:defRPr>
            </a:pPr>
            <a:r>
              <a:t>• ingredients</a:t>
            </a:r>
          </a:p>
          <a:p>
            <a:pPr>
              <a:defRPr sz="1100">
                <a:solidFill>
                  <a:srgbClr val="F5E6C8"/>
                </a:solidFill>
              </a:defRPr>
            </a:pPr>
            <a:r>
              <a:t>  Liste des ingredients</a:t>
            </a:r>
          </a:p>
          <a:p>
            <a:pPr>
              <a:spcBef>
                <a:spcPts val="600"/>
              </a:spcBef>
              <a:defRPr sz="1200" b="1">
                <a:solidFill>
                  <a:srgbClr val="FFD700"/>
                </a:solidFill>
              </a:defRPr>
            </a:pPr>
            <a:r>
              <a:t>• taste_profile</a:t>
            </a:r>
          </a:p>
          <a:p>
            <a:pPr>
              <a:defRPr sz="1100">
                <a:solidFill>
                  <a:srgbClr val="F5E6C8"/>
                </a:solidFill>
              </a:defRPr>
            </a:pPr>
            <a:r>
              <a:t>  JSON 7 dimensions (radar chart)</a:t>
            </a:r>
          </a:p>
          <a:p>
            <a:pPr>
              <a:spcBef>
                <a:spcPts val="600"/>
              </a:spcBef>
              <a:defRPr sz="1200" b="1">
                <a:solidFill>
                  <a:srgbClr val="FFD700"/>
                </a:solidFill>
              </a:defRPr>
            </a:pPr>
            <a:r>
              <a:t>• source</a:t>
            </a:r>
          </a:p>
          <a:p>
            <a:pPr>
              <a:defRPr sz="1100">
                <a:solidFill>
                  <a:srgbClr val="F5E6C8"/>
                </a:solidFill>
              </a:defRPr>
            </a:pPr>
            <a:r>
              <a:t>  'generated' ou 'kaggle'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4AF37"/>
                </a:solidFill>
              </a:defRPr>
            </a:pPr>
            <a:r>
              <a:t>VALIDATION COMPETENCE C3.1</a:t>
            </a:r>
          </a:p>
          <a:p>
            <a:pPr>
              <a:defRPr sz="1100">
                <a:solidFill>
                  <a:srgbClr val="F5E6C8"/>
                </a:solidFill>
              </a:defRPr>
            </a:pPr>
            <a:r>
              <a:t>Preparer, nettoyer et structurer les donnees pour assurer une qualite optimale pour l'IA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PIPELINE IA &amp;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1143000" cy="100584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1143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D4AF37"/>
                </a:solidFill>
              </a:defRPr>
            </a:pPr>
            <a:r>
              <a:t>1.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00200"/>
            <a:ext cx="1143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F5E6C8"/>
                </a:solidFill>
              </a:defRPr>
            </a:pPr>
            <a:r>
              <a:t>Questionnaire hybride</a:t>
            </a:r>
            <a:br/>
            <a:r>
              <a:t>(texte + budget)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45919"/>
            <a:ext cx="137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4AF37"/>
                </a:solidFill>
              </a:defRPr>
            </a:pPr>
            <a:r>
              <a:t>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90472" y="1280160"/>
            <a:ext cx="1143000" cy="100584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90472" y="1325880"/>
            <a:ext cx="1143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D4AF37"/>
                </a:solidFill>
              </a:defRPr>
            </a:pPr>
            <a:r>
              <a:t>2. GUARDRAIL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0472" y="1600200"/>
            <a:ext cx="1143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F5E6C8"/>
                </a:solidFill>
              </a:defRPr>
            </a:pPr>
            <a:r>
              <a:t>Check SBERT</a:t>
            </a:r>
            <a:br/>
            <a:r>
              <a:t>similarite &gt; 0.30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33472" y="1645919"/>
            <a:ext cx="137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4AF37"/>
                </a:solidFill>
              </a:defRPr>
            </a:pPr>
            <a: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06624" y="1280160"/>
            <a:ext cx="1143000" cy="100584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06624" y="1325880"/>
            <a:ext cx="1143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D4AF37"/>
                </a:solidFill>
              </a:defRPr>
            </a:pPr>
            <a:r>
              <a:t>3. CACHE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6624" y="1600200"/>
            <a:ext cx="1143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F5E6C8"/>
                </a:solidFill>
              </a:defRPr>
            </a:pPr>
            <a:r>
              <a:t>MD5 Hash</a:t>
            </a:r>
            <a:br/>
            <a:r>
              <a:t>Lookup 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9624" y="1645919"/>
            <a:ext cx="137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4AF37"/>
                </a:solidFill>
              </a:defRPr>
            </a:pPr>
            <a: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22776" y="1280160"/>
            <a:ext cx="1143000" cy="100584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22776" y="1325880"/>
            <a:ext cx="1143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D4AF37"/>
                </a:solidFill>
              </a:defRPr>
            </a:pPr>
            <a:r>
              <a:t>4. EMBEDDINGS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22776" y="1600200"/>
            <a:ext cx="1143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F5E6C8"/>
                </a:solidFill>
              </a:defRPr>
            </a:pPr>
            <a:r>
              <a:t>SBERT encode</a:t>
            </a:r>
            <a:br/>
            <a:r>
              <a:t>384 dimensions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65776" y="1645919"/>
            <a:ext cx="137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4AF37"/>
                </a:solidFill>
              </a:defRPr>
            </a:pPr>
            <a:r>
              <a:t>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38928" y="1280160"/>
            <a:ext cx="1143000" cy="100584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38928" y="1325880"/>
            <a:ext cx="1143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D4AF37"/>
                </a:solidFill>
              </a:defRPr>
            </a:pPr>
            <a:r>
              <a:t>5. SCORING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8928" y="1600200"/>
            <a:ext cx="1143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F5E6C8"/>
                </a:solidFill>
              </a:defRPr>
            </a:pPr>
            <a:r>
              <a:t>Similarite Cosinus</a:t>
            </a:r>
            <a:br/>
            <a:r>
              <a:t>Top-N ranking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1928" y="1645919"/>
            <a:ext cx="137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4AF37"/>
                </a:solidFill>
              </a:defRPr>
            </a:pPr>
            <a:r>
              <a:t>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1280160"/>
            <a:ext cx="1143000" cy="100584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1325880"/>
            <a:ext cx="1143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D4AF37"/>
                </a:solidFill>
              </a:defRPr>
            </a:pPr>
            <a:r>
              <a:t>6. RAG/GENAI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1600200"/>
            <a:ext cx="1143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F5E6C8"/>
                </a:solidFill>
              </a:defRPr>
            </a:pPr>
            <a:r>
              <a:t>Gemini API</a:t>
            </a:r>
            <a:br/>
            <a:r>
              <a:t>(si pas en cache)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1645919"/>
            <a:ext cx="137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4AF37"/>
                </a:solidFill>
              </a:defRPr>
            </a:pPr>
            <a:r>
              <a:t>&gt;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71232" y="1280160"/>
            <a:ext cx="1143000" cy="100584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71232" y="1325880"/>
            <a:ext cx="1143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D4AF37"/>
                </a:solidFill>
              </a:defRPr>
            </a:pPr>
            <a:r>
              <a:t>7. 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71232" y="1600200"/>
            <a:ext cx="1143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F5E6C8"/>
                </a:solidFill>
              </a:defRPr>
            </a:pPr>
            <a:r>
              <a:t>Recipe + Radar</a:t>
            </a:r>
            <a:br/>
            <a:r>
              <a:t>+ Export PDF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256032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4AF37"/>
                </a:solidFill>
              </a:defRPr>
            </a:pPr>
            <a:r>
              <a:t>SBERT LOCAL (all-MiniLM-L6-v2)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292608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200">
                <a:solidFill>
                  <a:srgbClr val="F5E6C8"/>
                </a:solidFill>
              </a:defRPr>
            </a:pPr>
            <a:r>
              <a:t>• Cout: 0 EUR (modele local)</a:t>
            </a:r>
          </a:p>
          <a:p>
            <a:pPr>
              <a:spcBef>
                <a:spcPts val="600"/>
              </a:spcBef>
              <a:defRPr sz="1200">
                <a:solidFill>
                  <a:srgbClr val="F5E6C8"/>
                </a:solidFill>
              </a:defRPr>
            </a:pPr>
            <a:r>
              <a:t>• Latence: ~50ms vs 500ms API Cloud</a:t>
            </a:r>
          </a:p>
          <a:p>
            <a:pPr>
              <a:spcBef>
                <a:spcPts val="600"/>
              </a:spcBef>
              <a:defRPr sz="1200">
                <a:solidFill>
                  <a:srgbClr val="F5E6C8"/>
                </a:solidFill>
              </a:defRPr>
            </a:pPr>
            <a:r>
              <a:t>• Confidentialite: Donnees on-premise</a:t>
            </a:r>
          </a:p>
          <a:p>
            <a:pPr>
              <a:spcBef>
                <a:spcPts val="600"/>
              </a:spcBef>
              <a:defRPr sz="1200">
                <a:solidFill>
                  <a:srgbClr val="F5E6C8"/>
                </a:solidFill>
              </a:defRPr>
            </a:pPr>
            <a:r>
              <a:t>• Embeddings: 384 dimensions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25603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4AF37"/>
                </a:solidFill>
              </a:defRPr>
            </a:pPr>
            <a:r>
              <a:t>GOOGLE GEMINI (RAG)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292608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200">
                <a:solidFill>
                  <a:srgbClr val="F5E6C8"/>
                </a:solidFill>
              </a:defRPr>
            </a:pPr>
            <a:r>
              <a:t>• Modele: gemini-2.5-flash-lite</a:t>
            </a:r>
          </a:p>
          <a:p>
            <a:pPr>
              <a:spcBef>
                <a:spcPts val="600"/>
              </a:spcBef>
              <a:defRPr sz="1200">
                <a:solidFill>
                  <a:srgbClr val="F5E6C8"/>
                </a:solidFill>
              </a:defRPr>
            </a:pPr>
            <a:r>
              <a:t>• Fallback: 5 modeles en cascade</a:t>
            </a:r>
          </a:p>
          <a:p>
            <a:pPr>
              <a:spcBef>
                <a:spcPts val="600"/>
              </a:spcBef>
              <a:defRPr sz="1200">
                <a:solidFill>
                  <a:srgbClr val="F5E6C8"/>
                </a:solidFill>
              </a:defRPr>
            </a:pPr>
            <a:r>
              <a:t>• Persona: 'Barman annees 1920'</a:t>
            </a:r>
          </a:p>
          <a:p>
            <a:pPr>
              <a:spcBef>
                <a:spcPts val="600"/>
              </a:spcBef>
              <a:defRPr sz="1200">
                <a:solidFill>
                  <a:srgbClr val="F5E6C8"/>
                </a:solidFill>
              </a:defRPr>
            </a:pPr>
            <a:r>
              <a:t>• Output: JSON structure valide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IMPLEMENTATION TECHNIQUE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4AF37"/>
                </a:solidFill>
              </a:defRPr>
            </a:pPr>
            <a:r>
              <a:t>STACK TECHNIQUE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840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200">
                <a:solidFill>
                  <a:srgbClr val="F5E6C8"/>
                </a:solidFill>
              </a:defRPr>
            </a:pPr>
            <a:r>
              <a:t>• Python 3.11: Langage principal</a:t>
            </a:r>
          </a:p>
          <a:p>
            <a:pPr>
              <a:spcBef>
                <a:spcPts val="600"/>
              </a:spcBef>
              <a:defRPr sz="1200">
                <a:solidFill>
                  <a:srgbClr val="F5E6C8"/>
                </a:solidFill>
              </a:defRPr>
            </a:pPr>
            <a:r>
              <a:t>• Streamlit: Interface web reactive</a:t>
            </a:r>
          </a:p>
          <a:p>
            <a:pPr>
              <a:spcBef>
                <a:spcPts val="600"/>
              </a:spcBef>
              <a:defRPr sz="1200">
                <a:solidFill>
                  <a:srgbClr val="F5E6C8"/>
                </a:solidFill>
              </a:defRPr>
            </a:pPr>
            <a:r>
              <a:t>• Sentence-Transformers: Embeddings SBERT</a:t>
            </a:r>
          </a:p>
          <a:p>
            <a:pPr>
              <a:spcBef>
                <a:spcPts val="600"/>
              </a:spcBef>
              <a:defRPr sz="1200">
                <a:solidFill>
                  <a:srgbClr val="F5E6C8"/>
                </a:solidFill>
              </a:defRPr>
            </a:pPr>
            <a:r>
              <a:t>• Google GenAI: API Gemini</a:t>
            </a:r>
          </a:p>
          <a:p>
            <a:pPr>
              <a:spcBef>
                <a:spcPts val="600"/>
              </a:spcBef>
              <a:defRPr sz="1200">
                <a:solidFill>
                  <a:srgbClr val="F5E6C8"/>
                </a:solidFill>
              </a:defRPr>
            </a:pPr>
            <a:r>
              <a:t>• Plotly: Graphiques interactifs</a:t>
            </a:r>
          </a:p>
          <a:p>
            <a:pPr>
              <a:spcBef>
                <a:spcPts val="600"/>
              </a:spcBef>
              <a:defRPr sz="1200">
                <a:solidFill>
                  <a:srgbClr val="F5E6C8"/>
                </a:solidFill>
              </a:defRPr>
            </a:pPr>
            <a:r>
              <a:t>• Pandas/NumPy: Manipulation donnees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4AF37"/>
                </a:solidFill>
              </a:defRPr>
            </a:pPr>
            <a:r>
              <a:t>SYSTEME DE SCORING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463040"/>
            <a:ext cx="4114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200">
                <a:solidFill>
                  <a:srgbClr val="F5E6C8"/>
                </a:solidFill>
              </a:defRPr>
            </a:pPr>
            <a:r>
              <a:t>• Similarite Cosinus: cos(query, cocktail)</a:t>
            </a:r>
          </a:p>
          <a:p>
            <a:pPr>
              <a:spcBef>
                <a:spcPts val="600"/>
              </a:spcBef>
              <a:defRPr sz="1200">
                <a:solidFill>
                  <a:srgbClr val="F5E6C8"/>
                </a:solidFill>
              </a:defRPr>
            </a:pPr>
            <a:r>
              <a:t>• Seuil pertinence: 0.30 (calibre)</a:t>
            </a:r>
          </a:p>
          <a:p>
            <a:pPr>
              <a:spcBef>
                <a:spcPts val="600"/>
              </a:spcBef>
              <a:defRPr sz="1200">
                <a:solidFill>
                  <a:srgbClr val="F5E6C8"/>
                </a:solidFill>
              </a:defRPr>
            </a:pPr>
            <a:r>
              <a:t>• Seuil recherche: 0.20 (Top-5)</a:t>
            </a:r>
          </a:p>
          <a:p>
            <a:pPr>
              <a:spcBef>
                <a:spcPts val="600"/>
              </a:spcBef>
              <a:defRPr sz="1200">
                <a:solidFill>
                  <a:srgbClr val="F5E6C8"/>
                </a:solidFill>
              </a:defRPr>
            </a:pPr>
            <a:r>
              <a:t>• Cache embeddings: 40-60x speedup</a:t>
            </a:r>
          </a:p>
          <a:p>
            <a:pPr>
              <a:spcBef>
                <a:spcPts val="600"/>
              </a:spcBef>
              <a:defRPr sz="1200">
                <a:solidFill>
                  <a:srgbClr val="F5E6C8"/>
                </a:solidFill>
              </a:defRPr>
            </a:pPr>
            <a:r>
              <a:t>• Ranking: Top-N par score decroissant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4AF37"/>
                </a:solidFill>
              </a:defRPr>
            </a:pPr>
            <a:r>
              <a:t>GOUVERNANCE &amp; RESPONSABILISATION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5E6C8"/>
                </a:solidFill>
              </a:defRPr>
            </a:pPr>
            <a:r>
              <a:t>• Guardrail semantique anti-injection | Cache JSON pour audit | Fallback local si API down | Analytics loguees | Mention legale alcool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DATAVIZ &amp; EXPERIENCE UTILISATEUR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4AF37"/>
                </a:solidFill>
              </a:defRPr>
            </a:pPr>
            <a:r>
              <a:t>GRAPHIQUE RADAR (7 AXES)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F5E6C8"/>
                </a:solidFill>
              </a:defRPr>
            </a:pPr>
            <a:r>
              <a:t>• Douceur (1.5 - 5.0)</a:t>
            </a:r>
          </a:p>
          <a:p>
            <a:pPr>
              <a:spcBef>
                <a:spcPts val="400"/>
              </a:spcBef>
              <a:defRPr sz="1200">
                <a:solidFill>
                  <a:srgbClr val="F5E6C8"/>
                </a:solidFill>
              </a:defRPr>
            </a:pPr>
            <a:r>
              <a:t>• Acidite (1.5 - 5.0)</a:t>
            </a:r>
          </a:p>
          <a:p>
            <a:pPr>
              <a:spcBef>
                <a:spcPts val="400"/>
              </a:spcBef>
              <a:defRPr sz="1200">
                <a:solidFill>
                  <a:srgbClr val="F5E6C8"/>
                </a:solidFill>
              </a:defRPr>
            </a:pPr>
            <a:r>
              <a:t>• Amertume (1.5 - 5.0)</a:t>
            </a:r>
          </a:p>
          <a:p>
            <a:pPr>
              <a:spcBef>
                <a:spcPts val="400"/>
              </a:spcBef>
              <a:defRPr sz="1200">
                <a:solidFill>
                  <a:srgbClr val="F5E6C8"/>
                </a:solidFill>
              </a:defRPr>
            </a:pPr>
            <a:r>
              <a:t>• Force alcool (1.5 - 5.0)</a:t>
            </a:r>
          </a:p>
          <a:p>
            <a:pPr>
              <a:spcBef>
                <a:spcPts val="400"/>
              </a:spcBef>
              <a:defRPr sz="1200">
                <a:solidFill>
                  <a:srgbClr val="F5E6C8"/>
                </a:solidFill>
              </a:defRPr>
            </a:pPr>
            <a:r>
              <a:t>• Fraicheur (1.5 - 5.0)</a:t>
            </a:r>
          </a:p>
          <a:p>
            <a:pPr>
              <a:spcBef>
                <a:spcPts val="400"/>
              </a:spcBef>
              <a:defRPr sz="1200">
                <a:solidFill>
                  <a:srgbClr val="F5E6C8"/>
                </a:solidFill>
              </a:defRPr>
            </a:pPr>
            <a:r>
              <a:t>• Prix (1.5 - 5.0)</a:t>
            </a:r>
          </a:p>
          <a:p>
            <a:pPr>
              <a:spcBef>
                <a:spcPts val="400"/>
              </a:spcBef>
              <a:defRPr sz="1200">
                <a:solidFill>
                  <a:srgbClr val="F5E6C8"/>
                </a:solidFill>
              </a:defRPr>
            </a:pPr>
            <a:r>
              <a:t>• Qualite (1.5 - 5.0)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4AF37"/>
                </a:solidFill>
              </a:defRPr>
            </a:pPr>
            <a:r>
              <a:t>INTERFACE STREAMLIT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46304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F5E6C8"/>
                </a:solidFill>
              </a:defRPr>
            </a:pPr>
            <a:r>
              <a:t>• Theme Speakeasy annees 1920</a:t>
            </a:r>
          </a:p>
          <a:p>
            <a:pPr>
              <a:spcBef>
                <a:spcPts val="400"/>
              </a:spcBef>
              <a:defRPr sz="1200">
                <a:solidFill>
                  <a:srgbClr val="F5E6C8"/>
                </a:solidFill>
              </a:defRPr>
            </a:pPr>
            <a:r>
              <a:t>• CSS custom (noir/or/creme)</a:t>
            </a:r>
          </a:p>
          <a:p>
            <a:pPr>
              <a:spcBef>
                <a:spcPts val="400"/>
              </a:spcBef>
              <a:defRPr sz="1200">
                <a:solidFill>
                  <a:srgbClr val="F5E6C8"/>
                </a:solidFill>
              </a:defRPr>
            </a:pPr>
            <a:r>
              <a:t>• Historique des 10 creations</a:t>
            </a:r>
          </a:p>
          <a:p>
            <a:pPr>
              <a:spcBef>
                <a:spcPts val="400"/>
              </a:spcBef>
              <a:defRPr sz="1200">
                <a:solidFill>
                  <a:srgbClr val="F5E6C8"/>
                </a:solidFill>
              </a:defRPr>
            </a:pPr>
            <a:r>
              <a:t>• Filtres dynamiques</a:t>
            </a:r>
          </a:p>
          <a:p>
            <a:pPr>
              <a:spcBef>
                <a:spcPts val="400"/>
              </a:spcBef>
              <a:defRPr sz="1200">
                <a:solidFill>
                  <a:srgbClr val="F5E6C8"/>
                </a:solidFill>
              </a:defRPr>
            </a:pPr>
            <a:r>
              <a:t>• Recherche SBERT temps reel</a:t>
            </a:r>
          </a:p>
          <a:p>
            <a:pPr>
              <a:spcBef>
                <a:spcPts val="400"/>
              </a:spcBef>
              <a:defRPr sz="1200">
                <a:solidFill>
                  <a:srgbClr val="F5E6C8"/>
                </a:solidFill>
              </a:defRPr>
            </a:pPr>
            <a:r>
              <a:t>• Export recette (TXT)</a:t>
            </a:r>
          </a:p>
          <a:p>
            <a:pPr>
              <a:spcBef>
                <a:spcPts val="400"/>
              </a:spcBef>
              <a:defRPr sz="1200">
                <a:solidFill>
                  <a:srgbClr val="F5E6C8"/>
                </a:solidFill>
              </a:defRPr>
            </a:pPr>
            <a:r>
              <a:t>• Bouton 'Surprends-moi!'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4AF37"/>
                </a:solidFill>
              </a:defRPr>
            </a:pPr>
            <a:r>
              <a:t>VALIDATION COMPETENCE C3.2</a:t>
            </a:r>
          </a:p>
          <a:p>
            <a:pPr>
              <a:defRPr sz="1100">
                <a:solidFill>
                  <a:srgbClr val="F5E6C8"/>
                </a:solidFill>
              </a:defRPr>
            </a:pPr>
            <a:r>
              <a:t>Elaborer une communication infographique visuelle via des tableaux de bord interactifs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RESULTATS &amp;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</a:defRPr>
            </a:pPr>
            <a:r>
              <a:t>95%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F5E6C8"/>
                </a:solidFill>
              </a:defRPr>
            </a:pPr>
            <a:r>
              <a:t>Taux de rejet correct</a:t>
            </a:r>
            <a:br/>
            <a:r>
              <a:t>(Guardrail SBERT)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18872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</a:defRPr>
            </a:pPr>
            <a:r>
              <a:t>~50ms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9202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F5E6C8"/>
                </a:solidFill>
              </a:defRPr>
            </a:pPr>
            <a:r>
              <a:t>Temps reponse</a:t>
            </a:r>
            <a:br/>
            <a:r>
              <a:t>(avec cache)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18872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</a:defRPr>
            </a:pPr>
            <a:r>
              <a:t>40-60x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9202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F5E6C8"/>
                </a:solidFill>
              </a:defRPr>
            </a:pPr>
            <a:r>
              <a:t>Speedup recherche</a:t>
            </a:r>
            <a:br/>
            <a:r>
              <a:t>(embeddings caches)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18872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</a:defRPr>
            </a:pPr>
            <a: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9202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F5E6C8"/>
                </a:solidFill>
              </a:defRPr>
            </a:pPr>
            <a:r>
              <a:t>Validite JSON</a:t>
            </a:r>
            <a:br/>
            <a:r>
              <a:t>(prompt strict)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4AF37"/>
                </a:solidFill>
              </a:defRPr>
            </a:pPr>
            <a:r>
              <a:t>TESTS AUTOMATISES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9184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200">
                <a:solidFill>
                  <a:srgbClr val="F5E6C8"/>
                </a:solidFill>
              </a:defRPr>
            </a:pPr>
            <a:r>
              <a:t>• Playwright E2E: Flow complet</a:t>
            </a:r>
          </a:p>
          <a:p>
            <a:pPr>
              <a:spcBef>
                <a:spcPts val="600"/>
              </a:spcBef>
              <a:defRPr sz="1200">
                <a:solidFill>
                  <a:srgbClr val="F5E6C8"/>
                </a:solidFill>
              </a:defRPr>
            </a:pPr>
            <a:r>
              <a:t>• test_guardrail_rejection</a:t>
            </a:r>
          </a:p>
          <a:p>
            <a:pPr>
              <a:spcBef>
                <a:spcPts val="600"/>
              </a:spcBef>
              <a:defRPr sz="1200">
                <a:solidFill>
                  <a:srgbClr val="F5E6C8"/>
                </a:solidFill>
              </a:defRPr>
            </a:pPr>
            <a:r>
              <a:t>• test_cocktail_query_success</a:t>
            </a:r>
          </a:p>
          <a:p>
            <a:pPr>
              <a:spcBef>
                <a:spcPts val="600"/>
              </a:spcBef>
              <a:defRPr sz="1200">
                <a:solidFill>
                  <a:srgbClr val="F5E6C8"/>
                </a:solidFill>
              </a:defRPr>
            </a:pPr>
            <a:r>
              <a:t>• test_complete_flow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926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4AF37"/>
                </a:solidFill>
              </a:defRPr>
            </a:pPr>
            <a:r>
              <a:t>GREEN AI &amp; OPTIMISATION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29184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200">
                <a:solidFill>
                  <a:srgbClr val="F5E6C8"/>
                </a:solidFill>
              </a:defRPr>
            </a:pPr>
            <a:r>
              <a:t>• MiniLM local (80 Mo) vs LLM geant</a:t>
            </a:r>
          </a:p>
          <a:p>
            <a:pPr>
              <a:spcBef>
                <a:spcPts val="600"/>
              </a:spcBef>
              <a:defRPr sz="1200">
                <a:solidFill>
                  <a:srgbClr val="F5E6C8"/>
                </a:solidFill>
              </a:defRPr>
            </a:pPr>
            <a:r>
              <a:t>• Cache JSON: 0 appel API redondant</a:t>
            </a:r>
          </a:p>
          <a:p>
            <a:pPr>
              <a:spcBef>
                <a:spcPts val="600"/>
              </a:spcBef>
              <a:defRPr sz="1200">
                <a:solidFill>
                  <a:srgbClr val="F5E6C8"/>
                </a:solidFill>
              </a:defRPr>
            </a:pPr>
            <a:r>
              <a:t>• Empreinte memoire: ~180 Mo</a:t>
            </a:r>
          </a:p>
          <a:p>
            <a:pPr>
              <a:spcBef>
                <a:spcPts val="600"/>
              </a:spcBef>
              <a:defRPr sz="1200">
                <a:solidFill>
                  <a:srgbClr val="F5E6C8"/>
                </a:solidFill>
              </a:defRPr>
            </a:pPr>
            <a:r>
              <a:t>• CPU standard (pas de GPU requis)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LIMITES &amp; PISTES D'AMELIORATION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4AF37"/>
                </a:solidFill>
              </a:defRPr>
            </a:pPr>
            <a:r>
              <a:t>LIMITES IDENTIFIEES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>
                <a:solidFill>
                  <a:srgbClr val="F5E6C8"/>
                </a:solidFill>
              </a:defRPr>
            </a:pPr>
            <a:r>
              <a:t>• SBERT anglais: Performances reduites en francais</a:t>
            </a:r>
          </a:p>
          <a:p>
            <a:pPr>
              <a:spcBef>
                <a:spcPts val="800"/>
              </a:spcBef>
              <a:defRPr sz="1200">
                <a:solidFill>
                  <a:srgbClr val="F5E6C8"/>
                </a:solidFill>
              </a:defRPr>
            </a:pPr>
            <a:r>
              <a:t>• Dataset limite: 1600 cocktails</a:t>
            </a:r>
          </a:p>
          <a:p>
            <a:pPr>
              <a:spcBef>
                <a:spcPts val="800"/>
              </a:spcBef>
              <a:defRPr sz="1200">
                <a:solidFill>
                  <a:srgbClr val="F5E6C8"/>
                </a:solidFill>
              </a:defRPr>
            </a:pPr>
            <a:r>
              <a:t>• Dependance API Gemini: Quota 15 req/min</a:t>
            </a:r>
          </a:p>
          <a:p>
            <a:pPr>
              <a:spcBef>
                <a:spcPts val="800"/>
              </a:spcBef>
              <a:defRPr sz="1200">
                <a:solidFill>
                  <a:srgbClr val="F5E6C8"/>
                </a:solidFill>
              </a:defRPr>
            </a:pPr>
            <a:r>
              <a:t>• Variabilite des similarites selon formulation</a:t>
            </a:r>
          </a:p>
          <a:p>
            <a:pPr>
              <a:spcBef>
                <a:spcPts val="800"/>
              </a:spcBef>
              <a:defRPr sz="1200">
                <a:solidFill>
                  <a:srgbClr val="F5E6C8"/>
                </a:solidFill>
              </a:defRPr>
            </a:pPr>
            <a:r>
              <a:t>• Pas de personnalisation utilisateur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4AF37"/>
                </a:solidFill>
              </a:defRPr>
            </a:pPr>
            <a:r>
              <a:t>AMELIORATIONS FUTURES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46304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>
                <a:solidFill>
                  <a:srgbClr val="F5E6C8"/>
                </a:solidFill>
              </a:defRPr>
            </a:pPr>
            <a:r>
              <a:t>• Fine-tuning SBERT sur corpus cocktails</a:t>
            </a:r>
          </a:p>
          <a:p>
            <a:pPr>
              <a:spcBef>
                <a:spcPts val="800"/>
              </a:spcBef>
              <a:defRPr sz="1200">
                <a:solidFill>
                  <a:srgbClr val="F5E6C8"/>
                </a:solidFill>
              </a:defRPr>
            </a:pPr>
            <a:r>
              <a:t>• Base de donnees vectorielle (Pinecone/Chroma)</a:t>
            </a:r>
          </a:p>
          <a:p>
            <a:pPr>
              <a:spcBef>
                <a:spcPts val="800"/>
              </a:spcBef>
              <a:defRPr sz="1200">
                <a:solidFill>
                  <a:srgbClr val="F5E6C8"/>
                </a:solidFill>
              </a:defRPr>
            </a:pPr>
            <a:r>
              <a:t>• Chatbot conversationnel guide</a:t>
            </a:r>
          </a:p>
          <a:p>
            <a:pPr>
              <a:spcBef>
                <a:spcPts val="800"/>
              </a:spcBef>
              <a:defRPr sz="1200">
                <a:solidFill>
                  <a:srgbClr val="F5E6C8"/>
                </a:solidFill>
              </a:defRPr>
            </a:pPr>
            <a:r>
              <a:t>• Profils utilisateurs persistants</a:t>
            </a:r>
          </a:p>
          <a:p>
            <a:pPr>
              <a:spcBef>
                <a:spcPts val="800"/>
              </a:spcBef>
              <a:defRPr sz="1200">
                <a:solidFill>
                  <a:srgbClr val="F5E6C8"/>
                </a:solidFill>
              </a:defRPr>
            </a:pPr>
            <a:r>
              <a:t>• API REST pour integration externe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457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D4AF37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A89968"/>
                </a:solidFill>
              </a:defRPr>
            </a:pPr>
            <a:r>
              <a:t>Projet validant l'ensemble du Bloc 2 RNCP40875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2011680"/>
            <a:ext cx="2011680" cy="146304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1031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D4AF37"/>
                </a:solidFill>
              </a:defRPr>
            </a:pPr>
            <a:r>
              <a:t>DATA ENG.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F5E6C8"/>
                </a:solidFill>
              </a:defRPr>
            </a:pPr>
            <a:r>
              <a:t>Pipeline de donnees</a:t>
            </a:r>
            <a:br/>
            <a:r>
              <a:t>CSV, Nettoyage</a:t>
            </a:r>
            <a:br/>
            <a:r>
              <a:t>600+ cocktails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2011680"/>
            <a:ext cx="2011680" cy="146304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600" y="21031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D4AF37"/>
                </a:solidFill>
              </a:defRPr>
            </a:pPr>
            <a:r>
              <a:t>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24688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F5E6C8"/>
                </a:solidFill>
              </a:defRPr>
            </a:pPr>
            <a:r>
              <a:t>NLP Semantique</a:t>
            </a:r>
            <a:br/>
            <a:r>
              <a:t>Embeddings SBERT</a:t>
            </a:r>
            <a:br/>
            <a:r>
              <a:t>Similarite cosinus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2011680"/>
            <a:ext cx="2011680" cy="146304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1031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D4AF37"/>
                </a:solidFill>
              </a:defRPr>
            </a:pPr>
            <a:r>
              <a:t>GENAI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4688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F5E6C8"/>
                </a:solidFill>
              </a:defRPr>
            </a:pPr>
            <a:r>
              <a:t>Integration LLM</a:t>
            </a:r>
            <a:br/>
            <a:r>
              <a:t>Architecture RAG</a:t>
            </a:r>
            <a:br/>
            <a:r>
              <a:t>Prompt Engineering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2011680"/>
            <a:ext cx="2011680" cy="146304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21031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D4AF37"/>
                </a:solidFill>
              </a:defRPr>
            </a:pPr>
            <a:r>
              <a:t>INDUSTRIALISATION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4688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F5E6C8"/>
                </a:solidFill>
              </a:defRPr>
            </a:pPr>
            <a:r>
              <a:t>UI Streamlit</a:t>
            </a:r>
            <a:br/>
            <a:r>
              <a:t>Tests E2E</a:t>
            </a:r>
            <a:br/>
            <a:r>
              <a:t>Cache &amp; Logging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840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FFD700"/>
                </a:solidFill>
              </a:defRPr>
            </a:pPr>
            <a:r>
              <a:t>Place a la demonstration!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3891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solidFill>
                  <a:srgbClr val="D4AF37"/>
                </a:solidFill>
              </a:defRPr>
            </a:pPr>
            <a:r>
              <a:t>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DEMONSTRATION LIVE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</a:defRPr>
            </a:pPr>
            <a:r>
              <a:t>1. GUARDRAIL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1887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E6C8"/>
                </a:solidFill>
              </a:defRPr>
            </a:pPr>
            <a:r>
              <a:t>Requete hors-sujet: 'Comment reparer mon velo?'</a:t>
            </a:r>
            <a:br/>
            <a:r>
              <a:t>-&gt; Message d'erreur du barman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</a:defRPr>
            </a:pPr>
            <a:r>
              <a:t>2. RECHERCHE SBERT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19456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E6C8"/>
                </a:solidFill>
              </a:defRPr>
            </a:pPr>
            <a:r>
              <a:t>Requete: 'tropical fruite'</a:t>
            </a:r>
            <a:br/>
            <a:r>
              <a:t>-&gt; Top-5 cocktails par similarite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</a:defRPr>
            </a:pPr>
            <a:r>
              <a:t>3. GENERATION GENAI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20040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E6C8"/>
                </a:solidFill>
              </a:defRPr>
            </a:pPr>
            <a:r>
              <a:t>Requete: 'Un cocktail mysterieux pour soiree chic'</a:t>
            </a:r>
            <a:br/>
            <a:r>
              <a:t>-&gt; Recipe + Radar chart + Export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062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</a:defRPr>
            </a:pPr>
            <a:r>
              <a:t>4. SURPRISE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20624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E6C8"/>
                </a:solidFill>
              </a:defRPr>
            </a:pPr>
            <a:r>
              <a:t>Bouton 'Surprends-moi!'</a:t>
            </a:r>
            <a:br/>
            <a:r>
              <a:t>-&gt; Generation aleatoire creative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A89968"/>
                </a:solidFill>
              </a:defRPr>
            </a:pPr>
            <a:r>
              <a:t>Commande: streamlit run src/app.py | URL: http://localhost:8501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